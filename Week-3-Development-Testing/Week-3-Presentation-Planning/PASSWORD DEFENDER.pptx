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FE50-E75F-814A-5580-E09116DA15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C583D4-00CE-DFDA-6D21-7D59D03B77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345AD1-9647-2C2A-7D27-A8ED7E767C8D}"/>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5" name="Footer Placeholder 4">
            <a:extLst>
              <a:ext uri="{FF2B5EF4-FFF2-40B4-BE49-F238E27FC236}">
                <a16:creationId xmlns:a16="http://schemas.microsoft.com/office/drawing/2014/main" id="{1920DC8E-F09A-2DB5-C623-B52FFA68DC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816D9-6B0C-1F40-F1C3-4064F8CE89D2}"/>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385965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9CA7E-896B-F5C4-6901-92617074B3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68AB40-7EE1-B13E-3ED6-67A0205849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24CCC-86A1-953D-9B6C-9C75757F473A}"/>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5" name="Footer Placeholder 4">
            <a:extLst>
              <a:ext uri="{FF2B5EF4-FFF2-40B4-BE49-F238E27FC236}">
                <a16:creationId xmlns:a16="http://schemas.microsoft.com/office/drawing/2014/main" id="{19CDC4FD-FD14-E4BD-07A2-DBB01777A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522D6-FF0A-9D02-4D75-ECCA99AFC2F8}"/>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321669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6F8B7-012C-8BD4-C3D2-72C16BB083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72ADC6-2411-4F2F-352C-E331B9E840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1D7025-CE57-C2B5-82F4-A30E0C96BBB5}"/>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5" name="Footer Placeholder 4">
            <a:extLst>
              <a:ext uri="{FF2B5EF4-FFF2-40B4-BE49-F238E27FC236}">
                <a16:creationId xmlns:a16="http://schemas.microsoft.com/office/drawing/2014/main" id="{FF7CB1BC-175A-29C6-F4C5-8E355958E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C1B33-1E05-6FCE-A4D9-FC66C0168405}"/>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2622239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C7724-805A-ABE3-99DB-6502ADFE7F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5B932B-F95C-1132-E824-720F5B74D9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B28EC6-0013-5CC4-4EA7-43AB83B624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084C16-8937-E6ED-826A-4454A06CD87C}"/>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6" name="Footer Placeholder 5">
            <a:extLst>
              <a:ext uri="{FF2B5EF4-FFF2-40B4-BE49-F238E27FC236}">
                <a16:creationId xmlns:a16="http://schemas.microsoft.com/office/drawing/2014/main" id="{27608BED-935B-5AD7-8D42-3417EBFA81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A266C-C032-8C0B-98EC-D2B95041B586}"/>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88388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6A72E-A455-3BF2-F0A0-6DB0365DFB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0CC2E1-70EC-FEDC-144F-2708E750B4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A04E94-168D-1457-DFBA-1F315FC20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F7E39A-FAE6-9AC0-C343-C60708F6E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E1E9C7-E210-2ADB-DE68-079C2F2458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E9639D-23A3-4998-78BE-3061C0C6C73A}"/>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8" name="Footer Placeholder 7">
            <a:extLst>
              <a:ext uri="{FF2B5EF4-FFF2-40B4-BE49-F238E27FC236}">
                <a16:creationId xmlns:a16="http://schemas.microsoft.com/office/drawing/2014/main" id="{179C81C2-2A72-10D4-92ED-C3F3B2EF72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167F-0704-0FFC-4E4E-6A761A5B9B47}"/>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2785742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9DDC8-D99D-7EA2-F845-026E11E9B2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A93B09-1102-F5E6-068B-0814FCEFC6A7}"/>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4" name="Footer Placeholder 3">
            <a:extLst>
              <a:ext uri="{FF2B5EF4-FFF2-40B4-BE49-F238E27FC236}">
                <a16:creationId xmlns:a16="http://schemas.microsoft.com/office/drawing/2014/main" id="{D7808EF9-34A7-20B8-D6A1-D0B1AD0FCD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D47D4C-7E02-C1DF-47E8-DA364AC37B66}"/>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2402862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9686E2-EB74-5626-CBB2-668AAFB45876}"/>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3" name="Footer Placeholder 2">
            <a:extLst>
              <a:ext uri="{FF2B5EF4-FFF2-40B4-BE49-F238E27FC236}">
                <a16:creationId xmlns:a16="http://schemas.microsoft.com/office/drawing/2014/main" id="{B1237D0E-1F2C-4644-CDC4-3AE35AAB7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EF053C-8AA9-1DA0-005A-80B7CFD951FE}"/>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195838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0E06-392B-798C-EA30-9287B6ACE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228898-2D23-0F92-9D8C-1D8AA015AD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AC16C-3B9F-E629-7988-6DC85F718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9BA9D2-66AE-7D8A-A40F-719B28D00D6B}"/>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6" name="Footer Placeholder 5">
            <a:extLst>
              <a:ext uri="{FF2B5EF4-FFF2-40B4-BE49-F238E27FC236}">
                <a16:creationId xmlns:a16="http://schemas.microsoft.com/office/drawing/2014/main" id="{6DD26230-6173-F2E7-D223-345844A2D6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83360-B6CD-BFFC-2837-A63B6E6DCAE4}"/>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2205217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2331E-7F2F-A995-8630-1219F7D530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E64DC9-D5E2-AF0A-F076-AF9474BC4D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F40BE6-D358-6D35-B592-815092A2C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AB0CB-FE42-2FAD-FDE4-3B5D836FB966}"/>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6" name="Footer Placeholder 5">
            <a:extLst>
              <a:ext uri="{FF2B5EF4-FFF2-40B4-BE49-F238E27FC236}">
                <a16:creationId xmlns:a16="http://schemas.microsoft.com/office/drawing/2014/main" id="{880E2471-C112-7BF7-F8C1-C0625DC216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094527-238B-25B4-A427-FC57754498D4}"/>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561281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7BF1-8F60-DB8E-C3A6-B20B410B21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F92C49-8867-46F7-2BBD-6E7EC7DFB1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32506B-1B7F-54EC-94C9-7166423BCEAC}"/>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5" name="Footer Placeholder 4">
            <a:extLst>
              <a:ext uri="{FF2B5EF4-FFF2-40B4-BE49-F238E27FC236}">
                <a16:creationId xmlns:a16="http://schemas.microsoft.com/office/drawing/2014/main" id="{E44CA114-8248-95B0-433D-B504155893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49797-C39D-7CEB-FD58-6B725D8B061E}"/>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1888836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0255E9-B564-30C9-D898-BD6475BBE5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C705A7-65A6-1963-E9C4-69FA38A961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A1790-38EE-8F89-F9F1-06B38D38943A}"/>
              </a:ext>
            </a:extLst>
          </p:cNvPr>
          <p:cNvSpPr>
            <a:spLocks noGrp="1"/>
          </p:cNvSpPr>
          <p:nvPr>
            <p:ph type="dt" sz="half" idx="10"/>
          </p:nvPr>
        </p:nvSpPr>
        <p:spPr/>
        <p:txBody>
          <a:bodyPr/>
          <a:lstStyle/>
          <a:p>
            <a:fld id="{D0BFF2A0-C006-4EEC-B85B-D38CCB92727D}" type="datetimeFigureOut">
              <a:rPr lang="en-US" smtClean="0"/>
              <a:t>5/21/2026</a:t>
            </a:fld>
            <a:endParaRPr lang="en-US"/>
          </a:p>
        </p:txBody>
      </p:sp>
      <p:sp>
        <p:nvSpPr>
          <p:cNvPr id="5" name="Footer Placeholder 4">
            <a:extLst>
              <a:ext uri="{FF2B5EF4-FFF2-40B4-BE49-F238E27FC236}">
                <a16:creationId xmlns:a16="http://schemas.microsoft.com/office/drawing/2014/main" id="{829A3375-1203-1465-F388-A1FAF52E1F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B89BC6-B5B3-5982-53C4-B0EBEA1A66C8}"/>
              </a:ext>
            </a:extLst>
          </p:cNvPr>
          <p:cNvSpPr>
            <a:spLocks noGrp="1"/>
          </p:cNvSpPr>
          <p:nvPr>
            <p:ph type="sldNum" sz="quarter" idx="12"/>
          </p:nvPr>
        </p:nvSpPr>
        <p:spPr/>
        <p:txBody>
          <a:bodyPr/>
          <a:lstStyle/>
          <a:p>
            <a:fld id="{F6170F80-8886-41A2-9AA2-9DCC88C70C77}" type="slidenum">
              <a:rPr lang="en-US" smtClean="0"/>
              <a:t>‹#›</a:t>
            </a:fld>
            <a:endParaRPr lang="en-US"/>
          </a:p>
        </p:txBody>
      </p:sp>
    </p:spTree>
    <p:extLst>
      <p:ext uri="{BB962C8B-B14F-4D97-AF65-F5344CB8AC3E}">
        <p14:creationId xmlns:p14="http://schemas.microsoft.com/office/powerpoint/2010/main" val="2878279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BF39D3-0C30-34AB-C33C-FD6440EA98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25933A-26C6-3BAE-F0E3-818D1839A4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9ABE1-E512-F378-29A3-11387BFDE8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BFF2A0-C006-4EEC-B85B-D38CCB92727D}" type="datetimeFigureOut">
              <a:rPr lang="en-US" smtClean="0"/>
              <a:t>5/21/2026</a:t>
            </a:fld>
            <a:endParaRPr lang="en-US"/>
          </a:p>
        </p:txBody>
      </p:sp>
      <p:sp>
        <p:nvSpPr>
          <p:cNvPr id="5" name="Footer Placeholder 4">
            <a:extLst>
              <a:ext uri="{FF2B5EF4-FFF2-40B4-BE49-F238E27FC236}">
                <a16:creationId xmlns:a16="http://schemas.microsoft.com/office/drawing/2014/main" id="{D3BD9F8D-783F-CC52-3BA5-CA21BF904B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4A8A1A-65E1-789D-8612-105AE5080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170F80-8886-41A2-9AA2-9DCC88C70C77}" type="slidenum">
              <a:rPr lang="en-US" smtClean="0"/>
              <a:t>‹#›</a:t>
            </a:fld>
            <a:endParaRPr lang="en-US"/>
          </a:p>
        </p:txBody>
      </p:sp>
    </p:spTree>
    <p:extLst>
      <p:ext uri="{BB962C8B-B14F-4D97-AF65-F5344CB8AC3E}">
        <p14:creationId xmlns:p14="http://schemas.microsoft.com/office/powerpoint/2010/main" val="1379541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3404-9A65-DDA0-391E-4C1159552CA3}"/>
              </a:ext>
            </a:extLst>
          </p:cNvPr>
          <p:cNvSpPr>
            <a:spLocks noGrp="1"/>
          </p:cNvSpPr>
          <p:nvPr>
            <p:ph type="ctrTitle"/>
          </p:nvPr>
        </p:nvSpPr>
        <p:spPr/>
        <p:txBody>
          <a:bodyPr/>
          <a:lstStyle/>
          <a:p>
            <a:r>
              <a:rPr lang="en-US" dirty="0"/>
              <a:t>PASSWORD DEFENDER </a:t>
            </a:r>
          </a:p>
        </p:txBody>
      </p:sp>
      <p:sp>
        <p:nvSpPr>
          <p:cNvPr id="3" name="Subtitle 2">
            <a:extLst>
              <a:ext uri="{FF2B5EF4-FFF2-40B4-BE49-F238E27FC236}">
                <a16:creationId xmlns:a16="http://schemas.microsoft.com/office/drawing/2014/main" id="{BC7DEC79-67EE-AF92-E240-A863BD9AF5E8}"/>
              </a:ext>
            </a:extLst>
          </p:cNvPr>
          <p:cNvSpPr>
            <a:spLocks noGrp="1"/>
          </p:cNvSpPr>
          <p:nvPr>
            <p:ph type="subTitle" idx="1"/>
          </p:nvPr>
        </p:nvSpPr>
        <p:spPr>
          <a:xfrm>
            <a:off x="1828800" y="3964322"/>
            <a:ext cx="9144000" cy="1655762"/>
          </a:xfrm>
        </p:spPr>
        <p:txBody>
          <a:bodyPr/>
          <a:lstStyle/>
          <a:p>
            <a:r>
              <a:rPr lang="en-US" dirty="0"/>
              <a:t>Communication and collaboration. </a:t>
            </a:r>
          </a:p>
        </p:txBody>
      </p:sp>
    </p:spTree>
    <p:extLst>
      <p:ext uri="{BB962C8B-B14F-4D97-AF65-F5344CB8AC3E}">
        <p14:creationId xmlns:p14="http://schemas.microsoft.com/office/powerpoint/2010/main" val="2584617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AEC0-F600-FE33-44EC-52FA4CF39F56}"/>
              </a:ext>
            </a:extLst>
          </p:cNvPr>
          <p:cNvSpPr>
            <a:spLocks noGrp="1"/>
          </p:cNvSpPr>
          <p:nvPr>
            <p:ph type="title"/>
          </p:nvPr>
        </p:nvSpPr>
        <p:spPr/>
        <p:txBody>
          <a:bodyPr/>
          <a:lstStyle/>
          <a:p>
            <a:r>
              <a:rPr lang="en-US" dirty="0"/>
              <a:t>Project objective </a:t>
            </a:r>
          </a:p>
        </p:txBody>
      </p:sp>
      <p:sp>
        <p:nvSpPr>
          <p:cNvPr id="3" name="Content Placeholder 2">
            <a:extLst>
              <a:ext uri="{FF2B5EF4-FFF2-40B4-BE49-F238E27FC236}">
                <a16:creationId xmlns:a16="http://schemas.microsoft.com/office/drawing/2014/main" id="{A20FD168-3053-0EBE-9D59-FC93FBFC3376}"/>
              </a:ext>
            </a:extLst>
          </p:cNvPr>
          <p:cNvSpPr>
            <a:spLocks noGrp="1"/>
          </p:cNvSpPr>
          <p:nvPr>
            <p:ph idx="1"/>
          </p:nvPr>
        </p:nvSpPr>
        <p:spPr/>
        <p:txBody>
          <a:bodyPr/>
          <a:lstStyle/>
          <a:p>
            <a:r>
              <a:rPr lang="en-US" dirty="0"/>
              <a:t>Password Defender is a cyber-safety educational prototype designed to teach the current generation about password-related threats and the importance of creating strong and secure passwords. The game helps users </a:t>
            </a:r>
            <a:r>
              <a:rPr lang="en-US" dirty="0" err="1"/>
              <a:t>recognise</a:t>
            </a:r>
            <a:r>
              <a:rPr lang="en-US" dirty="0"/>
              <a:t> weak password habits, understand cyber risks, and learn safer online security practices through interactive challenges and feedback.</a:t>
            </a:r>
          </a:p>
        </p:txBody>
      </p:sp>
    </p:spTree>
    <p:extLst>
      <p:ext uri="{BB962C8B-B14F-4D97-AF65-F5344CB8AC3E}">
        <p14:creationId xmlns:p14="http://schemas.microsoft.com/office/powerpoint/2010/main" val="1683296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AC3A3-03EE-2290-7369-156DB33AA0D5}"/>
              </a:ext>
            </a:extLst>
          </p:cNvPr>
          <p:cNvSpPr>
            <a:spLocks noGrp="1"/>
          </p:cNvSpPr>
          <p:nvPr>
            <p:ph type="title"/>
          </p:nvPr>
        </p:nvSpPr>
        <p:spPr/>
        <p:txBody>
          <a:bodyPr/>
          <a:lstStyle/>
          <a:p>
            <a:r>
              <a:rPr lang="en-US" dirty="0"/>
              <a:t>Cyber-safety problems </a:t>
            </a:r>
          </a:p>
        </p:txBody>
      </p:sp>
      <p:sp>
        <p:nvSpPr>
          <p:cNvPr id="3" name="Content Placeholder 2">
            <a:extLst>
              <a:ext uri="{FF2B5EF4-FFF2-40B4-BE49-F238E27FC236}">
                <a16:creationId xmlns:a16="http://schemas.microsoft.com/office/drawing/2014/main" id="{CC4614CF-3BA8-DD2D-2F71-A4209D04C12C}"/>
              </a:ext>
            </a:extLst>
          </p:cNvPr>
          <p:cNvSpPr>
            <a:spLocks noGrp="1"/>
          </p:cNvSpPr>
          <p:nvPr>
            <p:ph idx="1"/>
          </p:nvPr>
        </p:nvSpPr>
        <p:spPr/>
        <p:txBody>
          <a:bodyPr/>
          <a:lstStyle/>
          <a:p>
            <a:r>
              <a:rPr lang="en-US" dirty="0"/>
              <a:t>The project focuses on password security and common password threats faced by modern internet users. The problems we addressed are: weak password, reused </a:t>
            </a:r>
            <a:r>
              <a:rPr lang="en-US" dirty="0" err="1"/>
              <a:t>passwpord</a:t>
            </a:r>
            <a:r>
              <a:rPr lang="en-US" dirty="0"/>
              <a:t>, password theft and hacking risks.   </a:t>
            </a:r>
          </a:p>
          <a:p>
            <a:r>
              <a:rPr lang="en-US" dirty="0"/>
              <a:t>This matters because many users still create simple passwords that can easily be guessed or cracked. Password defender was created to help educate users about creating stronger passwords and understanding the risks pf unsafe password practices. </a:t>
            </a:r>
          </a:p>
          <a:p>
            <a:r>
              <a:rPr lang="en-US" dirty="0"/>
              <a:t>Our game focuses on cyber-safety issues like social engineering, password safety etc. </a:t>
            </a:r>
          </a:p>
          <a:p>
            <a:endParaRPr lang="en-US" dirty="0"/>
          </a:p>
        </p:txBody>
      </p:sp>
    </p:spTree>
    <p:extLst>
      <p:ext uri="{BB962C8B-B14F-4D97-AF65-F5344CB8AC3E}">
        <p14:creationId xmlns:p14="http://schemas.microsoft.com/office/powerpoint/2010/main" val="231430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B31F-7B5E-079A-C966-DBEA7E467AF2}"/>
              </a:ext>
            </a:extLst>
          </p:cNvPr>
          <p:cNvSpPr>
            <a:spLocks noGrp="1"/>
          </p:cNvSpPr>
          <p:nvPr>
            <p:ph type="title"/>
          </p:nvPr>
        </p:nvSpPr>
        <p:spPr/>
        <p:txBody>
          <a:bodyPr/>
          <a:lstStyle/>
          <a:p>
            <a:r>
              <a:rPr lang="en-US" dirty="0"/>
              <a:t>Targeted audience </a:t>
            </a:r>
          </a:p>
        </p:txBody>
      </p:sp>
      <p:sp>
        <p:nvSpPr>
          <p:cNvPr id="3" name="Content Placeholder 2">
            <a:extLst>
              <a:ext uri="{FF2B5EF4-FFF2-40B4-BE49-F238E27FC236}">
                <a16:creationId xmlns:a16="http://schemas.microsoft.com/office/drawing/2014/main" id="{F78E0B0A-E6CC-32E0-147C-453FBCB2D983}"/>
              </a:ext>
            </a:extLst>
          </p:cNvPr>
          <p:cNvSpPr>
            <a:spLocks noGrp="1"/>
          </p:cNvSpPr>
          <p:nvPr>
            <p:ph idx="1"/>
          </p:nvPr>
        </p:nvSpPr>
        <p:spPr/>
        <p:txBody>
          <a:bodyPr/>
          <a:lstStyle/>
          <a:p>
            <a:r>
              <a:rPr lang="en-US" dirty="0"/>
              <a:t>Teenagers and young adults who regularly use online platforms, social media, games, and digital services.</a:t>
            </a:r>
          </a:p>
          <a:p>
            <a:r>
              <a:rPr lang="en-US" dirty="0"/>
              <a:t>This audience was chosen because young users frequently create online accounts and they are unaware of password vulnerabilities. Cyber-security education is important for digital safety. </a:t>
            </a:r>
          </a:p>
        </p:txBody>
      </p:sp>
    </p:spTree>
    <p:extLst>
      <p:ext uri="{BB962C8B-B14F-4D97-AF65-F5344CB8AC3E}">
        <p14:creationId xmlns:p14="http://schemas.microsoft.com/office/powerpoint/2010/main" val="3895337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4470B-A9F5-EF8A-9ADD-90F3DFB299CC}"/>
              </a:ext>
            </a:extLst>
          </p:cNvPr>
          <p:cNvSpPr>
            <a:spLocks noGrp="1"/>
          </p:cNvSpPr>
          <p:nvPr>
            <p:ph type="title"/>
          </p:nvPr>
        </p:nvSpPr>
        <p:spPr/>
        <p:txBody>
          <a:bodyPr/>
          <a:lstStyle/>
          <a:p>
            <a:r>
              <a:rPr lang="en-US" dirty="0"/>
              <a:t>Game concept and gameplay</a:t>
            </a:r>
          </a:p>
        </p:txBody>
      </p:sp>
      <p:sp>
        <p:nvSpPr>
          <p:cNvPr id="3" name="Content Placeholder 2">
            <a:extLst>
              <a:ext uri="{FF2B5EF4-FFF2-40B4-BE49-F238E27FC236}">
                <a16:creationId xmlns:a16="http://schemas.microsoft.com/office/drawing/2014/main" id="{FE120BE9-D231-E782-4CDB-B5945A5D935A}"/>
              </a:ext>
            </a:extLst>
          </p:cNvPr>
          <p:cNvSpPr>
            <a:spLocks noGrp="1"/>
          </p:cNvSpPr>
          <p:nvPr>
            <p:ph idx="1"/>
          </p:nvPr>
        </p:nvSpPr>
        <p:spPr/>
        <p:txBody>
          <a:bodyPr/>
          <a:lstStyle/>
          <a:p>
            <a:r>
              <a:rPr lang="en-US" dirty="0"/>
              <a:t>Password Defender is an interactive cyber-safety learning prototype where players complete password-related challenges to learn how to create secure passwords and avoid cyber threats. </a:t>
            </a:r>
          </a:p>
          <a:p>
            <a:r>
              <a:rPr lang="en-US" dirty="0"/>
              <a:t>The main objective is to teach users how to:</a:t>
            </a:r>
          </a:p>
          <a:p>
            <a:pPr marL="0" indent="0">
              <a:buNone/>
            </a:pPr>
            <a:r>
              <a:rPr lang="en-US" dirty="0"/>
              <a:t>-create strong passwords</a:t>
            </a:r>
          </a:p>
          <a:p>
            <a:pPr marL="0" indent="0">
              <a:buNone/>
            </a:pPr>
            <a:r>
              <a:rPr lang="en-US" dirty="0"/>
              <a:t>-avoid common password mistakes </a:t>
            </a:r>
          </a:p>
          <a:p>
            <a:pPr marL="0" indent="0">
              <a:buNone/>
            </a:pPr>
            <a:r>
              <a:rPr lang="en-US" dirty="0"/>
              <a:t>-understand password threats</a:t>
            </a:r>
          </a:p>
          <a:p>
            <a:endParaRPr lang="en-US" dirty="0"/>
          </a:p>
        </p:txBody>
      </p:sp>
    </p:spTree>
    <p:extLst>
      <p:ext uri="{BB962C8B-B14F-4D97-AF65-F5344CB8AC3E}">
        <p14:creationId xmlns:p14="http://schemas.microsoft.com/office/powerpoint/2010/main" val="957584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09324-9027-E7ED-6934-4A27ABCB296B}"/>
              </a:ext>
            </a:extLst>
          </p:cNvPr>
          <p:cNvSpPr>
            <a:spLocks noGrp="1"/>
          </p:cNvSpPr>
          <p:nvPr>
            <p:ph type="title"/>
          </p:nvPr>
        </p:nvSpPr>
        <p:spPr/>
        <p:txBody>
          <a:bodyPr/>
          <a:lstStyle/>
          <a:p>
            <a:r>
              <a:rPr lang="en-US" dirty="0"/>
              <a:t>UX/accessibility </a:t>
            </a:r>
          </a:p>
        </p:txBody>
      </p:sp>
      <p:sp>
        <p:nvSpPr>
          <p:cNvPr id="3" name="Content Placeholder 2">
            <a:extLst>
              <a:ext uri="{FF2B5EF4-FFF2-40B4-BE49-F238E27FC236}">
                <a16:creationId xmlns:a16="http://schemas.microsoft.com/office/drawing/2014/main" id="{5F6C2EC3-885C-F88E-5884-E9CF7753EF00}"/>
              </a:ext>
            </a:extLst>
          </p:cNvPr>
          <p:cNvSpPr>
            <a:spLocks noGrp="1"/>
          </p:cNvSpPr>
          <p:nvPr>
            <p:ph idx="1"/>
          </p:nvPr>
        </p:nvSpPr>
        <p:spPr/>
        <p:txBody>
          <a:bodyPr/>
          <a:lstStyle/>
          <a:p>
            <a:r>
              <a:rPr lang="en-US" dirty="0"/>
              <a:t>Easy to understand interface </a:t>
            </a:r>
          </a:p>
          <a:p>
            <a:r>
              <a:rPr lang="en-US" dirty="0"/>
              <a:t>Large readable text</a:t>
            </a:r>
          </a:p>
          <a:p>
            <a:r>
              <a:rPr lang="en-US" dirty="0"/>
              <a:t>Simple navigation </a:t>
            </a:r>
          </a:p>
          <a:p>
            <a:r>
              <a:rPr lang="en-US" dirty="0"/>
              <a:t>Age-appropriate wording </a:t>
            </a:r>
          </a:p>
        </p:txBody>
      </p:sp>
    </p:spTree>
    <p:extLst>
      <p:ext uri="{BB962C8B-B14F-4D97-AF65-F5344CB8AC3E}">
        <p14:creationId xmlns:p14="http://schemas.microsoft.com/office/powerpoint/2010/main" val="2731745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D7D05-E983-3E90-3131-843558FB2251}"/>
              </a:ext>
            </a:extLst>
          </p:cNvPr>
          <p:cNvSpPr>
            <a:spLocks noGrp="1"/>
          </p:cNvSpPr>
          <p:nvPr>
            <p:ph type="title"/>
          </p:nvPr>
        </p:nvSpPr>
        <p:spPr/>
        <p:txBody>
          <a:bodyPr/>
          <a:lstStyle/>
          <a:p>
            <a:r>
              <a:rPr lang="en-US" dirty="0"/>
              <a:t>Testing and feedback </a:t>
            </a:r>
          </a:p>
        </p:txBody>
      </p:sp>
      <p:graphicFrame>
        <p:nvGraphicFramePr>
          <p:cNvPr id="8" name="Table 8">
            <a:extLst>
              <a:ext uri="{FF2B5EF4-FFF2-40B4-BE49-F238E27FC236}">
                <a16:creationId xmlns:a16="http://schemas.microsoft.com/office/drawing/2014/main" id="{81B389A6-C3AB-958E-9708-590A0DB1F730}"/>
              </a:ext>
            </a:extLst>
          </p:cNvPr>
          <p:cNvGraphicFramePr>
            <a:graphicFrameLocks noGrp="1"/>
          </p:cNvGraphicFramePr>
          <p:nvPr>
            <p:ph idx="1"/>
            <p:extLst>
              <p:ext uri="{D42A27DB-BD31-4B8C-83A1-F6EECF244321}">
                <p14:modId xmlns:p14="http://schemas.microsoft.com/office/powerpoint/2010/main" val="3536062574"/>
              </p:ext>
            </p:extLst>
          </p:nvPr>
        </p:nvGraphicFramePr>
        <p:xfrm>
          <a:off x="838200" y="1825625"/>
          <a:ext cx="10515597" cy="14833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372332198"/>
                    </a:ext>
                  </a:extLst>
                </a:gridCol>
                <a:gridCol w="3505199">
                  <a:extLst>
                    <a:ext uri="{9D8B030D-6E8A-4147-A177-3AD203B41FA5}">
                      <a16:colId xmlns:a16="http://schemas.microsoft.com/office/drawing/2014/main" val="3166231382"/>
                    </a:ext>
                  </a:extLst>
                </a:gridCol>
                <a:gridCol w="3505199">
                  <a:extLst>
                    <a:ext uri="{9D8B030D-6E8A-4147-A177-3AD203B41FA5}">
                      <a16:colId xmlns:a16="http://schemas.microsoft.com/office/drawing/2014/main" val="3655863229"/>
                    </a:ext>
                  </a:extLst>
                </a:gridCol>
              </a:tblGrid>
              <a:tr h="370840">
                <a:tc>
                  <a:txBody>
                    <a:bodyPr/>
                    <a:lstStyle/>
                    <a:p>
                      <a:r>
                        <a:rPr lang="en-US" dirty="0"/>
                        <a:t>Testing area </a:t>
                      </a:r>
                    </a:p>
                  </a:txBody>
                  <a:tcPr/>
                </a:tc>
                <a:tc>
                  <a:txBody>
                    <a:bodyPr/>
                    <a:lstStyle/>
                    <a:p>
                      <a:r>
                        <a:rPr lang="en-US" dirty="0"/>
                        <a:t>Issue found </a:t>
                      </a:r>
                    </a:p>
                  </a:txBody>
                  <a:tcPr/>
                </a:tc>
                <a:tc>
                  <a:txBody>
                    <a:bodyPr/>
                    <a:lstStyle/>
                    <a:p>
                      <a:r>
                        <a:rPr lang="en-US" dirty="0"/>
                        <a:t>Improvement made </a:t>
                      </a:r>
                    </a:p>
                  </a:txBody>
                  <a:tcPr/>
                </a:tc>
                <a:extLst>
                  <a:ext uri="{0D108BD9-81ED-4DB2-BD59-A6C34878D82A}">
                    <a16:rowId xmlns:a16="http://schemas.microsoft.com/office/drawing/2014/main" val="4068718789"/>
                  </a:ext>
                </a:extLst>
              </a:tr>
              <a:tr h="370840">
                <a:tc>
                  <a:txBody>
                    <a:bodyPr/>
                    <a:lstStyle/>
                    <a:p>
                      <a:r>
                        <a:rPr lang="en-US" dirty="0"/>
                        <a:t>Instructions </a:t>
                      </a:r>
                    </a:p>
                  </a:txBody>
                  <a:tcPr/>
                </a:tc>
                <a:tc>
                  <a:txBody>
                    <a:bodyPr/>
                    <a:lstStyle/>
                    <a:p>
                      <a:r>
                        <a:rPr lang="en-US" dirty="0"/>
                        <a:t>User confused at start </a:t>
                      </a:r>
                    </a:p>
                  </a:txBody>
                  <a:tcPr/>
                </a:tc>
                <a:tc>
                  <a:txBody>
                    <a:bodyPr/>
                    <a:lstStyle/>
                    <a:p>
                      <a:r>
                        <a:rPr lang="en-US" dirty="0"/>
                        <a:t>Added clear instructions </a:t>
                      </a:r>
                    </a:p>
                  </a:txBody>
                  <a:tcPr/>
                </a:tc>
                <a:extLst>
                  <a:ext uri="{0D108BD9-81ED-4DB2-BD59-A6C34878D82A}">
                    <a16:rowId xmlns:a16="http://schemas.microsoft.com/office/drawing/2014/main" val="4042747808"/>
                  </a:ext>
                </a:extLst>
              </a:tr>
              <a:tr h="370840">
                <a:tc>
                  <a:txBody>
                    <a:bodyPr/>
                    <a:lstStyle/>
                    <a:p>
                      <a:r>
                        <a:rPr lang="en-US" dirty="0"/>
                        <a:t>Navigation </a:t>
                      </a:r>
                    </a:p>
                  </a:txBody>
                  <a:tcPr/>
                </a:tc>
                <a:tc>
                  <a:txBody>
                    <a:bodyPr/>
                    <a:lstStyle/>
                    <a:p>
                      <a:r>
                        <a:rPr lang="en-US" dirty="0"/>
                        <a:t>Buttons unclear </a:t>
                      </a:r>
                    </a:p>
                  </a:txBody>
                  <a:tcPr/>
                </a:tc>
                <a:tc>
                  <a:txBody>
                    <a:bodyPr/>
                    <a:lstStyle/>
                    <a:p>
                      <a:r>
                        <a:rPr lang="en-US" dirty="0"/>
                        <a:t>Improved buttons labels </a:t>
                      </a:r>
                    </a:p>
                  </a:txBody>
                  <a:tcPr/>
                </a:tc>
                <a:extLst>
                  <a:ext uri="{0D108BD9-81ED-4DB2-BD59-A6C34878D82A}">
                    <a16:rowId xmlns:a16="http://schemas.microsoft.com/office/drawing/2014/main" val="198061657"/>
                  </a:ext>
                </a:extLst>
              </a:tr>
              <a:tr h="370840">
                <a:tc>
                  <a:txBody>
                    <a:bodyPr/>
                    <a:lstStyle/>
                    <a:p>
                      <a:r>
                        <a:rPr lang="en-US" dirty="0"/>
                        <a:t>Feedback </a:t>
                      </a:r>
                    </a:p>
                  </a:txBody>
                  <a:tcPr/>
                </a:tc>
                <a:tc>
                  <a:txBody>
                    <a:bodyPr/>
                    <a:lstStyle/>
                    <a:p>
                      <a:r>
                        <a:rPr lang="en-US" dirty="0"/>
                        <a:t>Too short </a:t>
                      </a:r>
                    </a:p>
                  </a:txBody>
                  <a:tcPr/>
                </a:tc>
                <a:tc>
                  <a:txBody>
                    <a:bodyPr/>
                    <a:lstStyle/>
                    <a:p>
                      <a:r>
                        <a:rPr lang="en-US" dirty="0"/>
                        <a:t>Added educational explanations </a:t>
                      </a:r>
                    </a:p>
                  </a:txBody>
                  <a:tcPr/>
                </a:tc>
                <a:extLst>
                  <a:ext uri="{0D108BD9-81ED-4DB2-BD59-A6C34878D82A}">
                    <a16:rowId xmlns:a16="http://schemas.microsoft.com/office/drawing/2014/main" val="3030198379"/>
                  </a:ext>
                </a:extLst>
              </a:tr>
            </a:tbl>
          </a:graphicData>
        </a:graphic>
      </p:graphicFrame>
    </p:spTree>
    <p:extLst>
      <p:ext uri="{BB962C8B-B14F-4D97-AF65-F5344CB8AC3E}">
        <p14:creationId xmlns:p14="http://schemas.microsoft.com/office/powerpoint/2010/main" val="1436708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DC0A6-C84B-3BD5-3D6B-1C727815AAF2}"/>
              </a:ext>
            </a:extLst>
          </p:cNvPr>
          <p:cNvSpPr>
            <a:spLocks noGrp="1"/>
          </p:cNvSpPr>
          <p:nvPr>
            <p:ph type="title"/>
          </p:nvPr>
        </p:nvSpPr>
        <p:spPr/>
        <p:txBody>
          <a:bodyPr/>
          <a:lstStyle/>
          <a:p>
            <a:r>
              <a:rPr lang="en-US" dirty="0"/>
              <a:t>Team collaboration and </a:t>
            </a:r>
            <a:r>
              <a:rPr lang="en-US" dirty="0" err="1"/>
              <a:t>Github</a:t>
            </a:r>
            <a:r>
              <a:rPr lang="en-US" dirty="0"/>
              <a:t> evidence </a:t>
            </a:r>
          </a:p>
        </p:txBody>
      </p:sp>
      <p:graphicFrame>
        <p:nvGraphicFramePr>
          <p:cNvPr id="4" name="Table 4">
            <a:extLst>
              <a:ext uri="{FF2B5EF4-FFF2-40B4-BE49-F238E27FC236}">
                <a16:creationId xmlns:a16="http://schemas.microsoft.com/office/drawing/2014/main" id="{12A2411C-EEC5-8C64-9881-FC238B845510}"/>
              </a:ext>
            </a:extLst>
          </p:cNvPr>
          <p:cNvGraphicFramePr>
            <a:graphicFrameLocks noGrp="1"/>
          </p:cNvGraphicFramePr>
          <p:nvPr>
            <p:ph idx="1"/>
            <p:extLst>
              <p:ext uri="{D42A27DB-BD31-4B8C-83A1-F6EECF244321}">
                <p14:modId xmlns:p14="http://schemas.microsoft.com/office/powerpoint/2010/main" val="1416498821"/>
              </p:ext>
            </p:extLst>
          </p:nvPr>
        </p:nvGraphicFramePr>
        <p:xfrm>
          <a:off x="838200" y="1825625"/>
          <a:ext cx="10515600" cy="2855729"/>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564399436"/>
                    </a:ext>
                  </a:extLst>
                </a:gridCol>
                <a:gridCol w="5257800">
                  <a:extLst>
                    <a:ext uri="{9D8B030D-6E8A-4147-A177-3AD203B41FA5}">
                      <a16:colId xmlns:a16="http://schemas.microsoft.com/office/drawing/2014/main" val="1589435167"/>
                    </a:ext>
                  </a:extLst>
                </a:gridCol>
              </a:tblGrid>
              <a:tr h="564649">
                <a:tc>
                  <a:txBody>
                    <a:bodyPr/>
                    <a:lstStyle/>
                    <a:p>
                      <a:r>
                        <a:rPr lang="en-US" dirty="0"/>
                        <a:t>Members </a:t>
                      </a:r>
                    </a:p>
                  </a:txBody>
                  <a:tcPr/>
                </a:tc>
                <a:tc>
                  <a:txBody>
                    <a:bodyPr/>
                    <a:lstStyle/>
                    <a:p>
                      <a:r>
                        <a:rPr lang="en-US" dirty="0"/>
                        <a:t>contribution</a:t>
                      </a:r>
                    </a:p>
                  </a:txBody>
                  <a:tcPr/>
                </a:tc>
                <a:extLst>
                  <a:ext uri="{0D108BD9-81ED-4DB2-BD59-A6C34878D82A}">
                    <a16:rowId xmlns:a16="http://schemas.microsoft.com/office/drawing/2014/main" val="334062101"/>
                  </a:ext>
                </a:extLst>
              </a:tr>
              <a:tr h="370840">
                <a:tc>
                  <a:txBody>
                    <a:bodyPr/>
                    <a:lstStyle/>
                    <a:p>
                      <a:r>
                        <a:rPr lang="en-US" dirty="0"/>
                        <a:t>Roshan </a:t>
                      </a:r>
                      <a:r>
                        <a:rPr lang="en-US" dirty="0" err="1"/>
                        <a:t>subedi</a:t>
                      </a:r>
                      <a:r>
                        <a:rPr lang="en-US" dirty="0"/>
                        <a:t> </a:t>
                      </a:r>
                    </a:p>
                  </a:txBody>
                  <a:tcPr/>
                </a:tc>
                <a:tc>
                  <a:txBody>
                    <a:bodyPr/>
                    <a:lstStyle/>
                    <a:p>
                      <a:r>
                        <a:rPr lang="en-US" dirty="0"/>
                        <a:t>Improved instructions, </a:t>
                      </a:r>
                      <a:r>
                        <a:rPr lang="en-US" dirty="0" err="1"/>
                        <a:t>organised</a:t>
                      </a:r>
                      <a:r>
                        <a:rPr lang="en-US" dirty="0"/>
                        <a:t> Week 3 evidence, and supported testing plan, managed </a:t>
                      </a:r>
                      <a:r>
                        <a:rPr lang="en-US" dirty="0" err="1"/>
                        <a:t>github</a:t>
                      </a:r>
                      <a:r>
                        <a:rPr lang="en-US" dirty="0"/>
                        <a:t> </a:t>
                      </a:r>
                    </a:p>
                  </a:txBody>
                  <a:tcPr/>
                </a:tc>
                <a:extLst>
                  <a:ext uri="{0D108BD9-81ED-4DB2-BD59-A6C34878D82A}">
                    <a16:rowId xmlns:a16="http://schemas.microsoft.com/office/drawing/2014/main" val="1282169749"/>
                  </a:ext>
                </a:extLst>
              </a:tr>
              <a:tr h="370840">
                <a:tc>
                  <a:txBody>
                    <a:bodyPr/>
                    <a:lstStyle/>
                    <a:p>
                      <a:r>
                        <a:rPr lang="en-US" dirty="0" err="1"/>
                        <a:t>Tej</a:t>
                      </a:r>
                      <a:r>
                        <a:rPr lang="en-US" dirty="0"/>
                        <a:t> shahi </a:t>
                      </a:r>
                    </a:p>
                  </a:txBody>
                  <a:tcPr/>
                </a:tc>
                <a:tc>
                  <a:txBody>
                    <a:bodyPr/>
                    <a:lstStyle/>
                    <a:p>
                      <a:r>
                        <a:rPr lang="en-US" dirty="0"/>
                        <a:t>Improved feedback messages and testing results</a:t>
                      </a:r>
                    </a:p>
                  </a:txBody>
                  <a:tcPr/>
                </a:tc>
                <a:extLst>
                  <a:ext uri="{0D108BD9-81ED-4DB2-BD59-A6C34878D82A}">
                    <a16:rowId xmlns:a16="http://schemas.microsoft.com/office/drawing/2014/main" val="592050489"/>
                  </a:ext>
                </a:extLst>
              </a:tr>
              <a:tr h="370840">
                <a:tc>
                  <a:txBody>
                    <a:bodyPr/>
                    <a:lstStyle/>
                    <a:p>
                      <a:r>
                        <a:rPr lang="en-US" dirty="0" err="1"/>
                        <a:t>Asutosh</a:t>
                      </a:r>
                      <a:r>
                        <a:rPr lang="en-US" dirty="0"/>
                        <a:t> </a:t>
                      </a:r>
                      <a:r>
                        <a:rPr lang="en-US" dirty="0" err="1"/>
                        <a:t>shiwakoti</a:t>
                      </a:r>
                      <a:endParaRPr lang="en-US" dirty="0"/>
                    </a:p>
                  </a:txBody>
                  <a:tcPr/>
                </a:tc>
                <a:tc>
                  <a:txBody>
                    <a:bodyPr/>
                    <a:lstStyle/>
                    <a:p>
                      <a:r>
                        <a:rPr lang="en-US" dirty="0"/>
                        <a:t>made presentation and helped with the prototype feedback and UX </a:t>
                      </a:r>
                    </a:p>
                  </a:txBody>
                  <a:tcPr/>
                </a:tc>
                <a:extLst>
                  <a:ext uri="{0D108BD9-81ED-4DB2-BD59-A6C34878D82A}">
                    <a16:rowId xmlns:a16="http://schemas.microsoft.com/office/drawing/2014/main" val="3571233441"/>
                  </a:ext>
                </a:extLst>
              </a:tr>
              <a:tr h="370840">
                <a:tc>
                  <a:txBody>
                    <a:bodyPr/>
                    <a:lstStyle/>
                    <a:p>
                      <a:r>
                        <a:rPr lang="en-US" dirty="0" err="1"/>
                        <a:t>Bishal</a:t>
                      </a:r>
                      <a:r>
                        <a:rPr lang="en-US" dirty="0"/>
                        <a:t> </a:t>
                      </a:r>
                      <a:r>
                        <a:rPr lang="en-US" dirty="0" err="1"/>
                        <a:t>shankhar</a:t>
                      </a:r>
                      <a:r>
                        <a:rPr lang="en-US" dirty="0"/>
                        <a:t> </a:t>
                      </a:r>
                    </a:p>
                  </a:txBody>
                  <a:tcPr/>
                </a:tc>
                <a:tc>
                  <a:txBody>
                    <a:bodyPr/>
                    <a:lstStyle/>
                    <a:p>
                      <a:r>
                        <a:rPr lang="en-US" dirty="0"/>
                        <a:t>Improved Challenge 1 and checked password safety content </a:t>
                      </a:r>
                    </a:p>
                  </a:txBody>
                  <a:tcPr/>
                </a:tc>
                <a:extLst>
                  <a:ext uri="{0D108BD9-81ED-4DB2-BD59-A6C34878D82A}">
                    <a16:rowId xmlns:a16="http://schemas.microsoft.com/office/drawing/2014/main" val="1922861469"/>
                  </a:ext>
                </a:extLst>
              </a:tr>
            </a:tbl>
          </a:graphicData>
        </a:graphic>
      </p:graphicFrame>
    </p:spTree>
    <p:extLst>
      <p:ext uri="{BB962C8B-B14F-4D97-AF65-F5344CB8AC3E}">
        <p14:creationId xmlns:p14="http://schemas.microsoft.com/office/powerpoint/2010/main" val="695588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2504F-E4A9-F209-0B45-63058F18228A}"/>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02444F78-72CF-ACA8-961C-122257B8007D}"/>
              </a:ext>
            </a:extLst>
          </p:cNvPr>
          <p:cNvSpPr>
            <a:spLocks noGrp="1"/>
          </p:cNvSpPr>
          <p:nvPr>
            <p:ph idx="1"/>
          </p:nvPr>
        </p:nvSpPr>
        <p:spPr/>
        <p:txBody>
          <a:bodyPr/>
          <a:lstStyle/>
          <a:p>
            <a:r>
              <a:rPr lang="en-US" dirty="0"/>
              <a:t>In summary, Password Defender was developed to educate users about password threats and the importance of creating strong and secure passwords through interactive gameplay and feedback.</a:t>
            </a:r>
          </a:p>
          <a:p>
            <a:r>
              <a:rPr lang="en-US" dirty="0"/>
              <a:t>Our next steps are to improve the prototype further by adding more challenges, refining the design, and enhancing user interaction based on testing and peer feedback.</a:t>
            </a:r>
          </a:p>
          <a:p>
            <a:r>
              <a:rPr lang="en-US" dirty="0"/>
              <a:t>This project also helped us develop professional skills such as teamwork, communication, problem-solving, and collaborative development using GitHub.</a:t>
            </a:r>
          </a:p>
        </p:txBody>
      </p:sp>
    </p:spTree>
    <p:extLst>
      <p:ext uri="{BB962C8B-B14F-4D97-AF65-F5344CB8AC3E}">
        <p14:creationId xmlns:p14="http://schemas.microsoft.com/office/powerpoint/2010/main" val="3828641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424</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PASSWORD DEFENDER </vt:lpstr>
      <vt:lpstr>Project objective </vt:lpstr>
      <vt:lpstr>Cyber-safety problems </vt:lpstr>
      <vt:lpstr>Targeted audience </vt:lpstr>
      <vt:lpstr>Game concept and gameplay</vt:lpstr>
      <vt:lpstr>UX/accessibility </vt:lpstr>
      <vt:lpstr>Testing and feedback </vt:lpstr>
      <vt:lpstr>Team collaboration and Github evidence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PASSWORD DEFENDER </dc:title>
  <dc:creator>Lenovo</dc:creator>
  <cp:lastModifiedBy>Lenovo</cp:lastModifiedBy>
  <cp:revision>1</cp:revision>
  <dcterms:created xsi:type="dcterms:W3CDTF">2026-05-21T15:15:24Z</dcterms:created>
  <dcterms:modified xsi:type="dcterms:W3CDTF">2026-05-21T15:15:27Z</dcterms:modified>
</cp:coreProperties>
</file>